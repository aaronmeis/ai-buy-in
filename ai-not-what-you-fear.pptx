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628" y="1204020"/>
            <a:ext cx="8238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60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2628" y="2499420"/>
            <a:ext cx="8238744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940"/>
              </a:lnSpc>
              <a:buNone/>
            </a:pPr>
            <a:r>
              <a:rPr lang="en-US" sz="5400" b="1" dirty="0">
                <a:solidFill>
                  <a:srgbClr val="4F8E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Is Not What You Fear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2628" y="3406080"/>
            <a:ext cx="8238744" cy="26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1380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Grounded Guide for Aerospace &amp; Defense Teams</a:t>
            </a:r>
            <a:endParaRPr lang="en-US" sz="1380" dirty="0"/>
          </a:p>
        </p:txBody>
      </p:sp>
      <p:sp>
        <p:nvSpPr>
          <p:cNvPr id="5" name="Text 3"/>
          <p:cNvSpPr/>
          <p:nvPr/>
        </p:nvSpPr>
        <p:spPr>
          <a:xfrm>
            <a:off x="452628" y="3745260"/>
            <a:ext cx="823874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3D5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Resistance → Reality → Readiness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2103834"/>
            <a:ext cx="2570559" cy="2082403"/>
          </a:xfrm>
          <a:prstGeom prst="roundRect">
            <a:avLst>
              <a:gd name="adj" fmla="val 70257"/>
            </a:avLst>
          </a:prstGeom>
          <a:solidFill>
            <a:srgbClr val="F87171">
              <a:alpha val="6000"/>
            </a:srgbClr>
          </a:solidFill>
          <a:ln w="9525">
            <a:solidFill>
              <a:srgbClr val="F8717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86720" y="2103834"/>
            <a:ext cx="2570559" cy="2082403"/>
          </a:xfrm>
          <a:prstGeom prst="roundRect">
            <a:avLst>
              <a:gd name="adj" fmla="val 70257"/>
            </a:avLst>
          </a:prstGeom>
          <a:solidFill>
            <a:srgbClr val="4F8EF7">
              <a:alpha val="6000"/>
            </a:srgbClr>
          </a:solidFill>
          <a:ln w="9525">
            <a:solidFill>
              <a:srgbClr val="4F8E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0041" y="2103834"/>
            <a:ext cx="2570559" cy="2082403"/>
          </a:xfrm>
          <a:prstGeom prst="roundRect">
            <a:avLst>
              <a:gd name="adj" fmla="val 70257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957114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Journey Today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3400" y="1204764"/>
            <a:ext cx="823874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E8ED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Three Acts of Understanding</a:t>
            </a:r>
            <a:endParaRPr lang="en-US" sz="3120" dirty="0"/>
          </a:p>
        </p:txBody>
      </p:sp>
      <p:sp>
        <p:nvSpPr>
          <p:cNvPr id="7" name="Text 5"/>
          <p:cNvSpPr/>
          <p:nvPr/>
        </p:nvSpPr>
        <p:spPr>
          <a:xfrm>
            <a:off x="756196" y="2326630"/>
            <a:ext cx="21674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56196" y="2875211"/>
            <a:ext cx="21674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 · Grounding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756196" y="3096071"/>
            <a:ext cx="21674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Fear Is Real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6196" y="3400871"/>
            <a:ext cx="2124968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Acknowledging the worst-case narratives — and why they persist</a:t>
            </a:r>
            <a:endParaRPr lang="en-US" sz="984" dirty="0"/>
          </a:p>
        </p:txBody>
      </p:sp>
      <p:sp>
        <p:nvSpPr>
          <p:cNvPr id="11" name="Text 9"/>
          <p:cNvSpPr/>
          <p:nvPr/>
        </p:nvSpPr>
        <p:spPr>
          <a:xfrm>
            <a:off x="3509516" y="2326630"/>
            <a:ext cx="21674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09516" y="2875211"/>
            <a:ext cx="21674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II · Reality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3509516" y="3096071"/>
            <a:ext cx="21674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AI Actually Does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09516" y="3400871"/>
            <a:ext cx="2124968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Evidence-backed look at augmentation, productivity, and A&amp;D use cases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6262836" y="2326630"/>
            <a:ext cx="21674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62836" y="2875211"/>
            <a:ext cx="21674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III · Readiness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262836" y="3096071"/>
            <a:ext cx="21674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Middle Ground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2836" y="3400871"/>
            <a:ext cx="2124968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adapt, upskill, and work with AI — not against it</a:t>
            </a:r>
            <a:endParaRPr lang="en-US" sz="9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628" y="1293614"/>
            <a:ext cx="8238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8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😰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2628" y="2360414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 · Grounding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2628" y="2623245"/>
            <a:ext cx="823874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buNone/>
            </a:pPr>
            <a:r>
              <a:rPr lang="en-US" sz="4200" b="1" dirty="0">
                <a:solidFill>
                  <a:srgbClr val="F8717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Worst of the Worst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3362325"/>
            <a:ext cx="53340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we can move forward, we must name the fears honestly. Resistance is not ignorance — it is human.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831652"/>
            <a:ext cx="8077200" cy="678805"/>
          </a:xfrm>
          <a:prstGeom prst="rect">
            <a:avLst/>
          </a:prstGeom>
          <a:solidFill>
            <a:srgbClr val="F87171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632347"/>
            <a:ext cx="8077200" cy="866329"/>
          </a:xfrm>
          <a:prstGeom prst="rect">
            <a:avLst/>
          </a:prstGeom>
          <a:solidFill>
            <a:srgbClr val="F87171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620566"/>
            <a:ext cx="8077200" cy="678805"/>
          </a:xfrm>
          <a:prstGeom prst="rect">
            <a:avLst/>
          </a:prstGeom>
          <a:solidFill>
            <a:srgbClr val="F87171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421261"/>
            <a:ext cx="8077200" cy="866329"/>
          </a:xfrm>
          <a:prstGeom prst="rect">
            <a:avLst/>
          </a:prstGeom>
          <a:solidFill>
            <a:srgbClr val="F87171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4409480"/>
            <a:ext cx="8077200" cy="866329"/>
          </a:xfrm>
          <a:prstGeom prst="rect">
            <a:avLst/>
          </a:prstGeom>
          <a:solidFill>
            <a:srgbClr val="F87171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-132159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People Are Actually Saying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100161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8ED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Anti-AI Narrative — Acknowledged</a:t>
            </a:r>
            <a:endParaRPr lang="en-US" sz="2640" dirty="0"/>
          </a:p>
        </p:txBody>
      </p:sp>
      <p:sp>
        <p:nvSpPr>
          <p:cNvPr id="9" name="Text 7"/>
          <p:cNvSpPr/>
          <p:nvPr/>
        </p:nvSpPr>
        <p:spPr>
          <a:xfrm>
            <a:off x="714375" y="953542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💼</a:t>
            </a:r>
            <a:endParaRPr lang="en-US" sz="1560" dirty="0"/>
          </a:p>
        </p:txBody>
      </p:sp>
      <p:sp>
        <p:nvSpPr>
          <p:cNvPr id="10" name="Text 8"/>
          <p:cNvSpPr/>
          <p:nvPr/>
        </p:nvSpPr>
        <p:spPr>
          <a:xfrm>
            <a:off x="1036290" y="953542"/>
            <a:ext cx="7150608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 will take my job."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1036290" y="1201043"/>
            <a:ext cx="715060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46% of workers who have AI available say they prefer not to use it — they fear being made redundant. </a:t>
            </a:r>
            <a:pPr indent="0" marL="0">
              <a:lnSpc>
                <a:spcPts val="1476"/>
              </a:lnSpc>
              <a:buNone/>
            </a:pPr>
            <a:r>
              <a:rPr lang="en-US" sz="984" i="1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(Gallup, 2026)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714375" y="1754237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1036290" y="1754237"/>
            <a:ext cx="7570348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 can't trust it — it hallucinates and makes things up."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1036290" y="2001738"/>
            <a:ext cx="7421910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AI still fails at 95%+ of complex, ambiguous reasoning tasks. In A&amp;D, reliability concerns are legitimate and non-trivial. </a:t>
            </a:r>
            <a:pPr indent="0" marL="0">
              <a:lnSpc>
                <a:spcPts val="1476"/>
              </a:lnSpc>
              <a:buNone/>
            </a:pPr>
            <a:r>
              <a:rPr lang="en-US" sz="984" i="1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(MIT, 2026)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714375" y="2742456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🕵️</a:t>
            </a:r>
            <a:endParaRPr lang="en-US" sz="1560" dirty="0"/>
          </a:p>
        </p:txBody>
      </p:sp>
      <p:sp>
        <p:nvSpPr>
          <p:cNvPr id="16" name="Text 14"/>
          <p:cNvSpPr/>
          <p:nvPr/>
        </p:nvSpPr>
        <p:spPr>
          <a:xfrm>
            <a:off x="1036290" y="2742456"/>
            <a:ext cx="680085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"It's a surveillance and control tool for leadership."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1036290" y="2989957"/>
            <a:ext cx="68008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 of non-users cite ethical concerns and data privacy as primary reasons to resist AI adoption. </a:t>
            </a:r>
            <a:pPr indent="0" marL="0">
              <a:lnSpc>
                <a:spcPts val="1476"/>
              </a:lnSpc>
              <a:buNone/>
            </a:pPr>
            <a:r>
              <a:rPr lang="en-US" sz="984" i="1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(Gallup, 2026)</a:t>
            </a:r>
            <a:endParaRPr lang="en-US" sz="984" dirty="0"/>
          </a:p>
        </p:txBody>
      </p:sp>
      <p:sp>
        <p:nvSpPr>
          <p:cNvPr id="18" name="Text 16"/>
          <p:cNvSpPr/>
          <p:nvPr/>
        </p:nvSpPr>
        <p:spPr>
          <a:xfrm>
            <a:off x="714375" y="3543151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1036290" y="3543151"/>
            <a:ext cx="7570348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"AGI / superintelligence will make humans obsolete."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1036290" y="3790652"/>
            <a:ext cx="7421910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Existential risk narratives (Terminator, BNW) dominate media coverage. Anthropic's CEO predicts AI surpasses "almost all humans" by 2027. Fear is amplified, not invented.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714375" y="4531370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📉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1036290" y="4531370"/>
            <a:ext cx="7570348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"92 million jobs will be destroyed."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1036290" y="4778871"/>
            <a:ext cx="7421910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WEF does project 92M jobs displaced by 2030 — this is real. The question is: displaced into what? </a:t>
            </a:r>
            <a:pPr indent="0" marL="0">
              <a:lnSpc>
                <a:spcPts val="1476"/>
              </a:lnSpc>
              <a:buNone/>
            </a:pPr>
            <a:r>
              <a:rPr lang="en-US" sz="984" i="1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(WEF Future of Jobs, 2025)</a:t>
            </a:r>
            <a:endParaRPr lang="en-US" sz="9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0" y="1280517"/>
            <a:ext cx="19050" cy="3786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09092"/>
            <a:ext cx="133350" cy="133350"/>
          </a:xfrm>
          <a:prstGeom prst="roundRect">
            <a:avLst>
              <a:gd name="adj" fmla="val 3428571"/>
            </a:avLst>
          </a:prstGeom>
          <a:solidFill>
            <a:srgbClr val="4F8EF7"/>
          </a:solidFill>
          <a:ln/>
          <a:effectLst>
            <a:outerShdw sx="100000" sy="100000" kx="0" ky="0" algn="bl" rotWithShape="0" blurRad="95250" dist="50800" dir="16200000">
              <a:srgbClr val="4F8EF7">
                <a:alpha val="6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200150" y="1280517"/>
            <a:ext cx="7410450" cy="832247"/>
          </a:xfrm>
          <a:prstGeom prst="roundRect">
            <a:avLst>
              <a:gd name="adj" fmla="val 10987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14400" y="2293739"/>
            <a:ext cx="133350" cy="133350"/>
          </a:xfrm>
          <a:prstGeom prst="roundRect">
            <a:avLst>
              <a:gd name="adj" fmla="val 3428571"/>
            </a:avLst>
          </a:prstGeom>
          <a:solidFill>
            <a:srgbClr val="7C3AED"/>
          </a:solidFill>
          <a:ln/>
          <a:effectLst>
            <a:outerShdw sx="100000" sy="100000" kx="0" ky="0" algn="bl" rotWithShape="0" blurRad="95250" dist="50800" dir="16200000">
              <a:srgbClr val="7C3AED">
                <a:alpha val="6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00150" y="2265164"/>
            <a:ext cx="7410450" cy="832247"/>
          </a:xfrm>
          <a:prstGeom prst="roundRect">
            <a:avLst>
              <a:gd name="adj" fmla="val 10987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14400" y="3278386"/>
            <a:ext cx="133350" cy="133350"/>
          </a:xfrm>
          <a:prstGeom prst="roundRect">
            <a:avLst>
              <a:gd name="adj" fmla="val 3428571"/>
            </a:avLst>
          </a:prstGeom>
          <a:solidFill>
            <a:srgbClr val="0891B2"/>
          </a:solidFill>
          <a:ln/>
          <a:effectLst>
            <a:outerShdw sx="100000" sy="100000" kx="0" ky="0" algn="bl" rotWithShape="0" blurRad="95250" dist="50800" dir="16200000">
              <a:srgbClr val="0891B2">
                <a:alpha val="6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200150" y="3249811"/>
            <a:ext cx="7410450" cy="832247"/>
          </a:xfrm>
          <a:prstGeom prst="roundRect">
            <a:avLst>
              <a:gd name="adj" fmla="val 10987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14400" y="4263033"/>
            <a:ext cx="133350" cy="133350"/>
          </a:xfrm>
          <a:prstGeom prst="roundRect">
            <a:avLst>
              <a:gd name="adj" fmla="val 34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95250" dist="50800" dir="16200000">
              <a:srgbClr val="34D399">
                <a:alpha val="6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200150" y="4234458"/>
            <a:ext cx="7410450" cy="832247"/>
          </a:xfrm>
          <a:prstGeom prst="roundRect">
            <a:avLst>
              <a:gd name="adj" fmla="val 10987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3400" y="76944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Perspective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33400" y="309265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8ED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 Have Always Been Here Before</a:t>
            </a:r>
            <a:endParaRPr lang="en-US" sz="2640" dirty="0"/>
          </a:p>
        </p:txBody>
      </p:sp>
      <p:sp>
        <p:nvSpPr>
          <p:cNvPr id="13" name="Text 10"/>
          <p:cNvSpPr/>
          <p:nvPr/>
        </p:nvSpPr>
        <p:spPr>
          <a:xfrm>
            <a:off x="533400" y="873026"/>
            <a:ext cx="823874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transformative technology triggered identical fears. The pattern is as old as civilization.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1362075" y="1396603"/>
            <a:ext cx="72283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1440s · Printing Press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1362075" y="1586954"/>
            <a:ext cx="7228332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056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 must root out printing or printing will root us out."</a:t>
            </a:r>
            <a:endParaRPr lang="en-US" sz="1056" dirty="0"/>
          </a:p>
        </p:txBody>
      </p:sp>
      <p:sp>
        <p:nvSpPr>
          <p:cNvPr id="16" name="Text 13"/>
          <p:cNvSpPr/>
          <p:nvPr/>
        </p:nvSpPr>
        <p:spPr>
          <a:xfrm>
            <a:off x="1362075" y="1818382"/>
            <a:ext cx="7228332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Vicar of Croydon. Result: The Renaissance, Reformation, mass literacy.</a:t>
            </a:r>
            <a:endParaRPr lang="en-US" sz="936" dirty="0"/>
          </a:p>
        </p:txBody>
      </p:sp>
      <p:sp>
        <p:nvSpPr>
          <p:cNvPr id="17" name="Text 14"/>
          <p:cNvSpPr/>
          <p:nvPr/>
        </p:nvSpPr>
        <p:spPr>
          <a:xfrm>
            <a:off x="1362075" y="2381250"/>
            <a:ext cx="72283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1880s · Electricity / Telegraph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1362075" y="2571601"/>
            <a:ext cx="7228332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056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terror over electrification: "Any doorknob could become an instrument of death."</a:t>
            </a:r>
            <a:endParaRPr lang="en-US" sz="1056" dirty="0"/>
          </a:p>
        </p:txBody>
      </p:sp>
      <p:sp>
        <p:nvSpPr>
          <p:cNvPr id="19" name="Text 16"/>
          <p:cNvSpPr/>
          <p:nvPr/>
        </p:nvSpPr>
        <p:spPr>
          <a:xfrm>
            <a:off x="1362075" y="2803029"/>
            <a:ext cx="7228332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Thomas Edison, 1889. Result: Industrial revolution, global communications.</a:t>
            </a:r>
            <a:endParaRPr lang="en-US" sz="936" dirty="0"/>
          </a:p>
        </p:txBody>
      </p:sp>
      <p:sp>
        <p:nvSpPr>
          <p:cNvPr id="20" name="Text 17"/>
          <p:cNvSpPr/>
          <p:nvPr/>
        </p:nvSpPr>
        <p:spPr>
          <a:xfrm>
            <a:off x="1362075" y="3365897"/>
            <a:ext cx="72283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1980s · ATMs &amp; Computers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1362075" y="3556248"/>
            <a:ext cx="7228332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056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ATMs predicted to eliminate bank tellers entirely.</a:t>
            </a:r>
            <a:endParaRPr lang="en-US" sz="1056" dirty="0"/>
          </a:p>
        </p:txBody>
      </p:sp>
      <p:sp>
        <p:nvSpPr>
          <p:cNvPr id="22" name="Text 19"/>
          <p:cNvSpPr/>
          <p:nvPr/>
        </p:nvSpPr>
        <p:spPr>
          <a:xfrm>
            <a:off x="1362075" y="3787676"/>
            <a:ext cx="7228332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Bank teller employment grew as branch services expanded. New jobs: IT, data analysts, UX designers.</a:t>
            </a:r>
            <a:endParaRPr lang="en-US" sz="936" dirty="0"/>
          </a:p>
        </p:txBody>
      </p:sp>
      <p:sp>
        <p:nvSpPr>
          <p:cNvPr id="23" name="Text 20"/>
          <p:cNvSpPr/>
          <p:nvPr/>
        </p:nvSpPr>
        <p:spPr>
          <a:xfrm>
            <a:off x="1362075" y="4350544"/>
            <a:ext cx="72283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· Artificial Intelligence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1362075" y="4540895"/>
            <a:ext cx="7228332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056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 will replace everything humans do."</a:t>
            </a:r>
            <a:endParaRPr lang="en-US" sz="1056" dirty="0"/>
          </a:p>
        </p:txBody>
      </p:sp>
      <p:sp>
        <p:nvSpPr>
          <p:cNvPr id="25" name="Text 22"/>
          <p:cNvSpPr/>
          <p:nvPr/>
        </p:nvSpPr>
        <p:spPr>
          <a:xfrm>
            <a:off x="1362075" y="4772323"/>
            <a:ext cx="7228332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pattern. Different technology. The question: adapt and lead, or wait and fall behind?</a:t>
            </a:r>
            <a:endParaRPr lang="en-US" sz="93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628" y="1293614"/>
            <a:ext cx="8238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8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2628" y="2360414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II · Reality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2628" y="2623245"/>
            <a:ext cx="823874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buNone/>
            </a:pPr>
            <a:r>
              <a:rPr lang="en-US" sz="4200" b="1" dirty="0">
                <a:solidFill>
                  <a:srgbClr val="4F8E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AI Actually Does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3362325"/>
            <a:ext cx="53340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evidence — from MIT, WEF, and the A&amp;D industry itself — tells a fundamentally different story.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416248"/>
            <a:ext cx="2590800" cy="1492448"/>
          </a:xfrm>
          <a:prstGeom prst="rect">
            <a:avLst/>
          </a:prstGeom>
          <a:solidFill>
            <a:srgbClr val="4F8EF7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76600" y="1416248"/>
            <a:ext cx="2590800" cy="1492448"/>
          </a:xfrm>
          <a:prstGeom prst="rect">
            <a:avLst/>
          </a:prstGeom>
          <a:solidFill>
            <a:srgbClr val="4F8EF7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19800" y="1416248"/>
            <a:ext cx="2590800" cy="1492448"/>
          </a:xfrm>
          <a:prstGeom prst="rect">
            <a:avLst/>
          </a:prstGeom>
          <a:solidFill>
            <a:srgbClr val="4F8EF7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319909"/>
            <a:ext cx="8077200" cy="228600"/>
          </a:xfrm>
          <a:prstGeom prst="roundRect">
            <a:avLst>
              <a:gd name="adj" fmla="val 24000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3883521"/>
            <a:ext cx="8077200" cy="228600"/>
          </a:xfrm>
          <a:prstGeom prst="roundRect">
            <a:avLst>
              <a:gd name="adj" fmla="val 24000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4447133"/>
            <a:ext cx="8077200" cy="228600"/>
          </a:xfrm>
          <a:prstGeom prst="roundRect">
            <a:avLst>
              <a:gd name="adj" fmla="val 24000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467767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 Evidence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3400" y="700088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8ED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Numbers Don't Lie</a:t>
            </a:r>
            <a:endParaRPr lang="en-US" sz="2640" dirty="0"/>
          </a:p>
        </p:txBody>
      </p:sp>
      <p:sp>
        <p:nvSpPr>
          <p:cNvPr id="10" name="Text 8"/>
          <p:cNvSpPr/>
          <p:nvPr/>
        </p:nvSpPr>
        <p:spPr>
          <a:xfrm>
            <a:off x="729555" y="1583829"/>
            <a:ext cx="2271605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20"/>
              </a:lnSpc>
              <a:buNone/>
            </a:pPr>
            <a:r>
              <a:rPr lang="en-US" sz="3120" b="1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+40%</a:t>
            </a:r>
            <a:endParaRPr lang="en-US" sz="3120" dirty="0"/>
          </a:p>
        </p:txBody>
      </p:sp>
      <p:sp>
        <p:nvSpPr>
          <p:cNvPr id="11" name="Text 9"/>
          <p:cNvSpPr/>
          <p:nvPr/>
        </p:nvSpPr>
        <p:spPr>
          <a:xfrm>
            <a:off x="729555" y="2025700"/>
            <a:ext cx="2227064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boost for highly skilled workers using AI within its capabilities</a:t>
            </a:r>
            <a:endParaRPr lang="en-US" sz="936" dirty="0"/>
          </a:p>
        </p:txBody>
      </p:sp>
      <p:sp>
        <p:nvSpPr>
          <p:cNvPr id="12" name="Text 10"/>
          <p:cNvSpPr/>
          <p:nvPr/>
        </p:nvSpPr>
        <p:spPr>
          <a:xfrm>
            <a:off x="729555" y="2419350"/>
            <a:ext cx="227160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i="1" dirty="0">
                <a:solidFill>
                  <a:srgbClr val="3D5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Sloan, 2023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3472755" y="1583829"/>
            <a:ext cx="2271605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20"/>
              </a:lnSpc>
              <a:buNone/>
            </a:pPr>
            <a:r>
              <a:rPr lang="en-US" sz="312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33%</a:t>
            </a:r>
            <a:endParaRPr lang="en-US" sz="3120" dirty="0"/>
          </a:p>
        </p:txBody>
      </p:sp>
      <p:sp>
        <p:nvSpPr>
          <p:cNvPr id="14" name="Text 12"/>
          <p:cNvSpPr/>
          <p:nvPr/>
        </p:nvSpPr>
        <p:spPr>
          <a:xfrm>
            <a:off x="3472755" y="2025700"/>
            <a:ext cx="2227064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 are 33% more productive per hour when using generative AI</a:t>
            </a:r>
            <a:endParaRPr lang="en-US" sz="936" dirty="0"/>
          </a:p>
        </p:txBody>
      </p:sp>
      <p:sp>
        <p:nvSpPr>
          <p:cNvPr id="15" name="Text 13"/>
          <p:cNvSpPr/>
          <p:nvPr/>
        </p:nvSpPr>
        <p:spPr>
          <a:xfrm>
            <a:off x="3472755" y="2419350"/>
            <a:ext cx="227160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i="1" dirty="0">
                <a:solidFill>
                  <a:srgbClr val="3D5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St. Louis Federal Reserve, 2024</a:t>
            </a:r>
            <a:endParaRPr lang="en-US" sz="816" dirty="0"/>
          </a:p>
        </p:txBody>
      </p:sp>
      <p:sp>
        <p:nvSpPr>
          <p:cNvPr id="16" name="Text 14"/>
          <p:cNvSpPr/>
          <p:nvPr/>
        </p:nvSpPr>
        <p:spPr>
          <a:xfrm>
            <a:off x="6215955" y="1583829"/>
            <a:ext cx="2271605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20"/>
              </a:lnSpc>
              <a:buNone/>
            </a:pPr>
            <a:r>
              <a:rPr lang="en-US" sz="312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 hrs</a:t>
            </a:r>
            <a:endParaRPr lang="en-US" sz="3120" dirty="0"/>
          </a:p>
        </p:txBody>
      </p:sp>
      <p:sp>
        <p:nvSpPr>
          <p:cNvPr id="17" name="Text 15"/>
          <p:cNvSpPr/>
          <p:nvPr/>
        </p:nvSpPr>
        <p:spPr>
          <a:xfrm>
            <a:off x="6215955" y="2025700"/>
            <a:ext cx="2227064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time saved per week per worker using AI — rising to 4+ hrs for daily users</a:t>
            </a:r>
            <a:endParaRPr lang="en-US" sz="936" dirty="0"/>
          </a:p>
        </p:txBody>
      </p:sp>
      <p:sp>
        <p:nvSpPr>
          <p:cNvPr id="18" name="Text 16"/>
          <p:cNvSpPr/>
          <p:nvPr/>
        </p:nvSpPr>
        <p:spPr>
          <a:xfrm>
            <a:off x="6215955" y="2585740"/>
            <a:ext cx="227160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i="1" dirty="0">
                <a:solidFill>
                  <a:srgbClr val="3D5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St. Louis Fed Survey, Nov 2024</a:t>
            </a:r>
            <a:endParaRPr lang="en-US" sz="816" dirty="0"/>
          </a:p>
        </p:txBody>
      </p:sp>
      <p:sp>
        <p:nvSpPr>
          <p:cNvPr id="19" name="Text 17"/>
          <p:cNvSpPr/>
          <p:nvPr/>
        </p:nvSpPr>
        <p:spPr>
          <a:xfrm>
            <a:off x="533400" y="3091458"/>
            <a:ext cx="25940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 saying AI improved quality of work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8343900" y="3091458"/>
            <a:ext cx="2720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533400" y="3655070"/>
            <a:ext cx="246773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 saying AI exceeded expectations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8334375" y="3655070"/>
            <a:ext cx="28175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55%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533400" y="4218682"/>
            <a:ext cx="354615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Executives who say gen AI will disrupt employee experience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8334375" y="4218682"/>
            <a:ext cx="28175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2265759"/>
            <a:ext cx="1530102" cy="1175147"/>
          </a:xfrm>
          <a:prstGeom prst="roundRect">
            <a:avLst>
              <a:gd name="adj" fmla="val 93374"/>
            </a:avLst>
          </a:prstGeom>
          <a:solidFill>
            <a:srgbClr val="4F8EF7">
              <a:alpha val="7000"/>
            </a:srgbClr>
          </a:solidFill>
          <a:ln w="9525">
            <a:solidFill>
              <a:srgbClr val="4F8E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70063" y="2265759"/>
            <a:ext cx="1530251" cy="1175147"/>
          </a:xfrm>
          <a:prstGeom prst="roundRect">
            <a:avLst>
              <a:gd name="adj" fmla="val 93374"/>
            </a:avLst>
          </a:prstGeom>
          <a:solidFill>
            <a:srgbClr val="4F8EF7">
              <a:alpha val="7000"/>
            </a:srgbClr>
          </a:solidFill>
          <a:ln w="9525">
            <a:solidFill>
              <a:srgbClr val="4F8E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06875" y="2265759"/>
            <a:ext cx="1530102" cy="1175147"/>
          </a:xfrm>
          <a:prstGeom prst="roundRect">
            <a:avLst>
              <a:gd name="adj" fmla="val 93374"/>
            </a:avLst>
          </a:prstGeom>
          <a:solidFill>
            <a:srgbClr val="4F8EF7">
              <a:alpha val="7000"/>
            </a:srgbClr>
          </a:solidFill>
          <a:ln w="9525">
            <a:solidFill>
              <a:srgbClr val="4F8E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43538" y="2265759"/>
            <a:ext cx="1530251" cy="1175147"/>
          </a:xfrm>
          <a:prstGeom prst="roundRect">
            <a:avLst>
              <a:gd name="adj" fmla="val 93374"/>
            </a:avLst>
          </a:prstGeom>
          <a:solidFill>
            <a:srgbClr val="4F8EF7">
              <a:alpha val="7000"/>
            </a:srgbClr>
          </a:solidFill>
          <a:ln w="9525">
            <a:solidFill>
              <a:srgbClr val="4F8E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80349" y="2265759"/>
            <a:ext cx="1530102" cy="1175147"/>
          </a:xfrm>
          <a:prstGeom prst="roundRect">
            <a:avLst>
              <a:gd name="adj" fmla="val 93374"/>
            </a:avLst>
          </a:prstGeom>
          <a:solidFill>
            <a:srgbClr val="4F8EF7">
              <a:alpha val="7000"/>
            </a:srgbClr>
          </a:solidFill>
          <a:ln w="9525">
            <a:solidFill>
              <a:srgbClr val="4F8E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3623667"/>
            <a:ext cx="8077200" cy="914698"/>
          </a:xfrm>
          <a:prstGeom prst="roundRect">
            <a:avLst>
              <a:gd name="adj" fmla="val 119961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604986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Sloan Research · March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3400" y="837307"/>
            <a:ext cx="8077200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8ED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Complements Humans — It Doesn't Replace Them</a:t>
            </a:r>
            <a:endParaRPr lang="en-US" sz="2640" dirty="0"/>
          </a:p>
        </p:txBody>
      </p:sp>
      <p:sp>
        <p:nvSpPr>
          <p:cNvPr id="10" name="Text 8"/>
          <p:cNvSpPr/>
          <p:nvPr/>
        </p:nvSpPr>
        <p:spPr>
          <a:xfrm>
            <a:off x="533400" y="1888778"/>
            <a:ext cx="823874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EPOCH of AI" study identifies 5 human capabilities AI cannot replicate — and shows they are </a:t>
            </a:r>
            <a:pPr indent="0" marL="0">
              <a:lnSpc>
                <a:spcPts val="1530"/>
              </a:lnSpc>
              <a:buNone/>
            </a:pPr>
            <a:r>
              <a:rPr lang="en-US" sz="1020" i="1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increasing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demand.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05538" y="2397175"/>
            <a:ext cx="1385825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❤️</a:t>
            </a:r>
            <a:endParaRPr lang="en-US" sz="1920" dirty="0"/>
          </a:p>
        </p:txBody>
      </p:sp>
      <p:sp>
        <p:nvSpPr>
          <p:cNvPr id="12" name="Text 10"/>
          <p:cNvSpPr/>
          <p:nvPr/>
        </p:nvSpPr>
        <p:spPr>
          <a:xfrm>
            <a:off x="605538" y="2808536"/>
            <a:ext cx="1385825" cy="14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16"/>
              </a:lnSpc>
              <a:buNone/>
            </a:pPr>
            <a:r>
              <a:rPr lang="en-US" sz="744" b="1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744" dirty="0"/>
          </a:p>
        </p:txBody>
      </p:sp>
      <p:sp>
        <p:nvSpPr>
          <p:cNvPr id="13" name="Text 11"/>
          <p:cNvSpPr/>
          <p:nvPr/>
        </p:nvSpPr>
        <p:spPr>
          <a:xfrm>
            <a:off x="619125" y="2980581"/>
            <a:ext cx="1358652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Empathy &amp; Emotional Intelligence</a:t>
            </a:r>
            <a:endParaRPr lang="en-US" sz="864" dirty="0"/>
          </a:p>
        </p:txBody>
      </p:sp>
      <p:sp>
        <p:nvSpPr>
          <p:cNvPr id="14" name="Text 12"/>
          <p:cNvSpPr/>
          <p:nvPr/>
        </p:nvSpPr>
        <p:spPr>
          <a:xfrm>
            <a:off x="2242200" y="2397175"/>
            <a:ext cx="1385977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🤝</a:t>
            </a:r>
            <a:endParaRPr lang="en-US" sz="1920" dirty="0"/>
          </a:p>
        </p:txBody>
      </p:sp>
      <p:sp>
        <p:nvSpPr>
          <p:cNvPr id="15" name="Text 13"/>
          <p:cNvSpPr/>
          <p:nvPr/>
        </p:nvSpPr>
        <p:spPr>
          <a:xfrm>
            <a:off x="2242200" y="2808536"/>
            <a:ext cx="1385977" cy="14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16"/>
              </a:lnSpc>
              <a:buNone/>
            </a:pPr>
            <a:r>
              <a:rPr lang="en-US" sz="744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744" dirty="0"/>
          </a:p>
        </p:txBody>
      </p:sp>
      <p:sp>
        <p:nvSpPr>
          <p:cNvPr id="16" name="Text 14"/>
          <p:cNvSpPr/>
          <p:nvPr/>
        </p:nvSpPr>
        <p:spPr>
          <a:xfrm>
            <a:off x="2242200" y="2980581"/>
            <a:ext cx="1385977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Presence &amp; Networking</a:t>
            </a:r>
            <a:endParaRPr lang="en-US" sz="864" dirty="0"/>
          </a:p>
        </p:txBody>
      </p:sp>
      <p:sp>
        <p:nvSpPr>
          <p:cNvPr id="17" name="Text 15"/>
          <p:cNvSpPr/>
          <p:nvPr/>
        </p:nvSpPr>
        <p:spPr>
          <a:xfrm>
            <a:off x="3879013" y="2397175"/>
            <a:ext cx="1385825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⚖️</a:t>
            </a:r>
            <a:endParaRPr lang="en-US" sz="1920" dirty="0"/>
          </a:p>
        </p:txBody>
      </p:sp>
      <p:sp>
        <p:nvSpPr>
          <p:cNvPr id="18" name="Text 16"/>
          <p:cNvSpPr/>
          <p:nvPr/>
        </p:nvSpPr>
        <p:spPr>
          <a:xfrm>
            <a:off x="3879013" y="2808536"/>
            <a:ext cx="1385825" cy="14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16"/>
              </a:lnSpc>
              <a:buNone/>
            </a:pPr>
            <a:r>
              <a:rPr lang="en-US" sz="744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744" dirty="0"/>
          </a:p>
        </p:txBody>
      </p:sp>
      <p:sp>
        <p:nvSpPr>
          <p:cNvPr id="19" name="Text 17"/>
          <p:cNvSpPr/>
          <p:nvPr/>
        </p:nvSpPr>
        <p:spPr>
          <a:xfrm>
            <a:off x="3892600" y="2980581"/>
            <a:ext cx="1358652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Opinion, Judgment &amp; Ethics</a:t>
            </a:r>
            <a:endParaRPr lang="en-US" sz="864" dirty="0"/>
          </a:p>
        </p:txBody>
      </p:sp>
      <p:sp>
        <p:nvSpPr>
          <p:cNvPr id="20" name="Text 18"/>
          <p:cNvSpPr/>
          <p:nvPr/>
        </p:nvSpPr>
        <p:spPr>
          <a:xfrm>
            <a:off x="5515674" y="2397175"/>
            <a:ext cx="1385977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endParaRPr lang="en-US" sz="1920" dirty="0"/>
          </a:p>
        </p:txBody>
      </p:sp>
      <p:sp>
        <p:nvSpPr>
          <p:cNvPr id="21" name="Text 19"/>
          <p:cNvSpPr/>
          <p:nvPr/>
        </p:nvSpPr>
        <p:spPr>
          <a:xfrm>
            <a:off x="5515674" y="2808536"/>
            <a:ext cx="1385977" cy="14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16"/>
              </a:lnSpc>
              <a:buNone/>
            </a:pPr>
            <a:r>
              <a:rPr lang="en-US" sz="744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744" dirty="0"/>
          </a:p>
        </p:txBody>
      </p:sp>
      <p:sp>
        <p:nvSpPr>
          <p:cNvPr id="22" name="Text 20"/>
          <p:cNvSpPr/>
          <p:nvPr/>
        </p:nvSpPr>
        <p:spPr>
          <a:xfrm>
            <a:off x="5515674" y="2980581"/>
            <a:ext cx="1385977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Creativity &amp; Imagination</a:t>
            </a:r>
            <a:endParaRPr lang="en-US" sz="864" dirty="0"/>
          </a:p>
        </p:txBody>
      </p:sp>
      <p:sp>
        <p:nvSpPr>
          <p:cNvPr id="23" name="Text 21"/>
          <p:cNvSpPr/>
          <p:nvPr/>
        </p:nvSpPr>
        <p:spPr>
          <a:xfrm>
            <a:off x="7152488" y="2397175"/>
            <a:ext cx="1385825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🌟</a:t>
            </a:r>
            <a:endParaRPr lang="en-US" sz="1920" dirty="0"/>
          </a:p>
        </p:txBody>
      </p:sp>
      <p:sp>
        <p:nvSpPr>
          <p:cNvPr id="24" name="Text 22"/>
          <p:cNvSpPr/>
          <p:nvPr/>
        </p:nvSpPr>
        <p:spPr>
          <a:xfrm>
            <a:off x="7152488" y="2808536"/>
            <a:ext cx="1385825" cy="14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16"/>
              </a:lnSpc>
              <a:buNone/>
            </a:pPr>
            <a:r>
              <a:rPr lang="en-US" sz="744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endParaRPr lang="en-US" sz="744" dirty="0"/>
          </a:p>
        </p:txBody>
      </p:sp>
      <p:sp>
        <p:nvSpPr>
          <p:cNvPr id="25" name="Text 23"/>
          <p:cNvSpPr/>
          <p:nvPr/>
        </p:nvSpPr>
        <p:spPr>
          <a:xfrm>
            <a:off x="7166074" y="2980581"/>
            <a:ext cx="1358652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Hope, Vision &amp; Leadership</a:t>
            </a:r>
            <a:endParaRPr lang="en-US" sz="864" dirty="0"/>
          </a:p>
        </p:txBody>
      </p:sp>
      <p:sp>
        <p:nvSpPr>
          <p:cNvPr id="26" name="Text 24"/>
          <p:cNvSpPr/>
          <p:nvPr/>
        </p:nvSpPr>
        <p:spPr>
          <a:xfrm>
            <a:off x="710505" y="3789313"/>
            <a:ext cx="757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finding: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710505" y="3996482"/>
            <a:ext cx="7524750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 deliberately don't call these soft skills — they're the hardest skills of all."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350913"/>
            <a:ext cx="3969990" cy="1342281"/>
          </a:xfrm>
          <a:prstGeom prst="rect">
            <a:avLst/>
          </a:prstGeom>
          <a:solidFill>
            <a:srgbClr val="4F8EF7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0461" y="1350913"/>
            <a:ext cx="3970139" cy="1342281"/>
          </a:xfrm>
          <a:prstGeom prst="rect">
            <a:avLst/>
          </a:prstGeom>
          <a:solidFill>
            <a:srgbClr val="4F8EF7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830264"/>
            <a:ext cx="3969990" cy="1175891"/>
          </a:xfrm>
          <a:prstGeom prst="rect">
            <a:avLst/>
          </a:prstGeom>
          <a:solidFill>
            <a:srgbClr val="4F8EF7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40461" y="2830264"/>
            <a:ext cx="3970139" cy="1175891"/>
          </a:xfrm>
          <a:prstGeom prst="rect">
            <a:avLst/>
          </a:prstGeom>
          <a:solidFill>
            <a:srgbClr val="4F8EF7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4143226"/>
            <a:ext cx="8077200" cy="567333"/>
          </a:xfrm>
          <a:prstGeom prst="roundRect">
            <a:avLst>
              <a:gd name="adj" fmla="val 161175"/>
            </a:avLst>
          </a:prstGeom>
          <a:solidFill>
            <a:srgbClr val="4F8EF7">
              <a:alpha val="6000"/>
            </a:srgbClr>
          </a:solidFill>
          <a:ln w="9525">
            <a:solidFill>
              <a:srgbClr val="4F8E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432941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Aerospace &amp; Defense · Real World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665262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8ED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Is Already Working Alongside Us</a:t>
            </a:r>
            <a:endParaRPr lang="en-US" sz="2640" dirty="0"/>
          </a:p>
        </p:txBody>
      </p:sp>
      <p:sp>
        <p:nvSpPr>
          <p:cNvPr id="9" name="Text 7"/>
          <p:cNvSpPr/>
          <p:nvPr/>
        </p:nvSpPr>
        <p:spPr>
          <a:xfrm>
            <a:off x="714375" y="1487984"/>
            <a:ext cx="182317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✈️</a:t>
            </a:r>
            <a:endParaRPr lang="en-US" sz="1680" dirty="0"/>
          </a:p>
        </p:txBody>
      </p:sp>
      <p:sp>
        <p:nvSpPr>
          <p:cNvPr id="10" name="Text 8"/>
          <p:cNvSpPr/>
          <p:nvPr/>
        </p:nvSpPr>
        <p:spPr>
          <a:xfrm>
            <a:off x="999679" y="1487984"/>
            <a:ext cx="3418338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 Wingman / CCA Program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99679" y="1724174"/>
            <a:ext cx="3351312" cy="83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uncrewed aircraft (YFQ-44A, YFQ-42A, Ghost Bat) flying </a:t>
            </a:r>
            <a:pPr indent="0" marL="0">
              <a:lnSpc>
                <a:spcPts val="1310"/>
              </a:lnSpc>
              <a:buNone/>
            </a:pPr>
            <a:r>
              <a:rPr lang="en-US" sz="936" i="1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alongside</a:t>
            </a:r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human pilots as force multipliers. Boeing, Lockheed, Northrop, Anduril, General Atomics — all competing for $6B contract. Human pilots retain command authority.</a:t>
            </a:r>
            <a:endParaRPr lang="en-US" sz="936" dirty="0"/>
          </a:p>
        </p:txBody>
      </p:sp>
      <p:sp>
        <p:nvSpPr>
          <p:cNvPr id="12" name="Text 10"/>
          <p:cNvSpPr/>
          <p:nvPr/>
        </p:nvSpPr>
        <p:spPr>
          <a:xfrm>
            <a:off x="4821436" y="1487984"/>
            <a:ext cx="213741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🛠️</a:t>
            </a:r>
            <a:endParaRPr lang="en-US" sz="1680" dirty="0"/>
          </a:p>
        </p:txBody>
      </p:sp>
      <p:sp>
        <p:nvSpPr>
          <p:cNvPr id="13" name="Text 11"/>
          <p:cNvSpPr/>
          <p:nvPr/>
        </p:nvSpPr>
        <p:spPr>
          <a:xfrm>
            <a:off x="5137547" y="1487984"/>
            <a:ext cx="3387066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137547" y="1724174"/>
            <a:ext cx="3320653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USAF PANDA tool (C3 AI + GenAI): interprets maintenance narratives, predicts failures before they occur. Pratt &amp; Whitney + Awiros: AI-powered engine inspection in real-time. Technicians use AI to go deeper, not go home.</a:t>
            </a:r>
            <a:endParaRPr lang="en-US" sz="936" dirty="0"/>
          </a:p>
        </p:txBody>
      </p:sp>
      <p:sp>
        <p:nvSpPr>
          <p:cNvPr id="15" name="Text 13"/>
          <p:cNvSpPr/>
          <p:nvPr/>
        </p:nvSpPr>
        <p:spPr>
          <a:xfrm>
            <a:off x="714375" y="2967335"/>
            <a:ext cx="213741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🎓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1030486" y="2967335"/>
            <a:ext cx="3386914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Training Enhancement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030486" y="3203525"/>
            <a:ext cx="3320504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Lockheed Martin: AI agents trained to minimize radar detection provide F-35 student pilots with alternate flight paths — training tools no human instructor could generate alone.</a:t>
            </a:r>
            <a:endParaRPr lang="en-US" sz="936" dirty="0"/>
          </a:p>
        </p:txBody>
      </p:sp>
      <p:sp>
        <p:nvSpPr>
          <p:cNvPr id="18" name="Text 16"/>
          <p:cNvSpPr/>
          <p:nvPr/>
        </p:nvSpPr>
        <p:spPr>
          <a:xfrm>
            <a:off x="4821436" y="2967335"/>
            <a:ext cx="213741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📄</a:t>
            </a:r>
            <a:endParaRPr lang="en-US" sz="1680" dirty="0"/>
          </a:p>
        </p:txBody>
      </p:sp>
      <p:sp>
        <p:nvSpPr>
          <p:cNvPr id="19" name="Text 17"/>
          <p:cNvSpPr/>
          <p:nvPr/>
        </p:nvSpPr>
        <p:spPr>
          <a:xfrm>
            <a:off x="5137547" y="2967335"/>
            <a:ext cx="3387066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&amp; Knowledge Intelligence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137547" y="3203525"/>
            <a:ext cx="3320653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processes terabytes of TMs, CMMs, and regulatory documents in seconds. Engineers spend less time hunting procedures in fragmented PDFs and more time applying their expertise.</a:t>
            </a:r>
            <a:endParaRPr lang="en-US" sz="936" dirty="0"/>
          </a:p>
        </p:txBody>
      </p:sp>
      <p:sp>
        <p:nvSpPr>
          <p:cNvPr id="21" name="Text 19"/>
          <p:cNvSpPr/>
          <p:nvPr/>
        </p:nvSpPr>
        <p:spPr>
          <a:xfrm>
            <a:off x="533400" y="4143226"/>
            <a:ext cx="8077200" cy="567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🏭 </a:t>
            </a:r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Honeywell Aerospace, 2026:</a:t>
            </a:r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"AI in aerospace is about augmentation support, not replacement. That is foundational to who we are."</a:t>
            </a:r>
            <a:endParaRPr lang="en-US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76239"/>
            <a:ext cx="2590800" cy="1047750"/>
          </a:xfrm>
          <a:prstGeom prst="roundRect">
            <a:avLst>
              <a:gd name="adj" fmla="val 122182"/>
            </a:avLst>
          </a:prstGeom>
          <a:solidFill>
            <a:srgbClr val="F87171">
              <a:alpha val="6000"/>
            </a:srgbClr>
          </a:solidFill>
          <a:ln w="9525">
            <a:solidFill>
              <a:srgbClr val="F8717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76600" y="1576239"/>
            <a:ext cx="2590800" cy="1047750"/>
          </a:xfrm>
          <a:prstGeom prst="roundRect">
            <a:avLst>
              <a:gd name="adj" fmla="val 122182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19800" y="1576239"/>
            <a:ext cx="2590800" cy="1047750"/>
          </a:xfrm>
          <a:prstGeom prst="roundRect">
            <a:avLst>
              <a:gd name="adj" fmla="val 122182"/>
            </a:avLst>
          </a:prstGeom>
          <a:solidFill>
            <a:srgbClr val="4F8EF7">
              <a:alpha val="6000"/>
            </a:srgbClr>
          </a:solidFill>
          <a:ln w="9525">
            <a:solidFill>
              <a:srgbClr val="4F8E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806750"/>
            <a:ext cx="8077200" cy="1678484"/>
          </a:xfrm>
          <a:prstGeom prst="roundRect">
            <a:avLst>
              <a:gd name="adj" fmla="val 6537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658267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 Economic Forum ·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400" y="890588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8ED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Full Jobs Picture: Net +78 Million by 2030</a:t>
            </a:r>
            <a:endParaRPr lang="en-US" sz="2640" dirty="0"/>
          </a:p>
        </p:txBody>
      </p:sp>
      <p:sp>
        <p:nvSpPr>
          <p:cNvPr id="8" name="Text 6"/>
          <p:cNvSpPr/>
          <p:nvPr/>
        </p:nvSpPr>
        <p:spPr>
          <a:xfrm>
            <a:off x="672656" y="1738164"/>
            <a:ext cx="2312289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92M</a:t>
            </a:r>
            <a:endParaRPr lang="en-US" sz="2640" dirty="0"/>
          </a:p>
        </p:txBody>
      </p:sp>
      <p:sp>
        <p:nvSpPr>
          <p:cNvPr id="9" name="Text 7"/>
          <p:cNvSpPr/>
          <p:nvPr/>
        </p:nvSpPr>
        <p:spPr>
          <a:xfrm>
            <a:off x="672656" y="2119164"/>
            <a:ext cx="23122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Jobs displaced globally by 2030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15856" y="1738164"/>
            <a:ext cx="2312289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170M</a:t>
            </a:r>
            <a:endParaRPr lang="en-US" sz="2640" dirty="0"/>
          </a:p>
        </p:txBody>
      </p:sp>
      <p:sp>
        <p:nvSpPr>
          <p:cNvPr id="11" name="Text 9"/>
          <p:cNvSpPr/>
          <p:nvPr/>
        </p:nvSpPr>
        <p:spPr>
          <a:xfrm>
            <a:off x="3415856" y="2119164"/>
            <a:ext cx="23122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jobs created globally by 2030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59056" y="1738164"/>
            <a:ext cx="2312289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+78M</a:t>
            </a:r>
            <a:endParaRPr lang="en-US" sz="2640" dirty="0"/>
          </a:p>
        </p:txBody>
      </p:sp>
      <p:sp>
        <p:nvSpPr>
          <p:cNvPr id="13" name="Text 11"/>
          <p:cNvSpPr/>
          <p:nvPr/>
        </p:nvSpPr>
        <p:spPr>
          <a:xfrm>
            <a:off x="6181725" y="2119164"/>
            <a:ext cx="2266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new jobs (from 1,000+ employers, 55 economies)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5325" y="2968675"/>
            <a:ext cx="7908417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honest caveat — and why it matters for A&amp;D: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695325" y="3257104"/>
            <a:ext cx="1115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896094" y="3247579"/>
            <a:ext cx="751008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Displacement and creation </a:t>
            </a:r>
            <a:pPr indent="0" marL="0">
              <a:lnSpc>
                <a:spcPts val="1440"/>
              </a:lnSpc>
              <a:buNone/>
            </a:pPr>
            <a:r>
              <a:rPr lang="en-US" sz="960" i="1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happen to the same people automatically</a:t>
            </a:r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transitions require deliberate reskilling investment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95325" y="3525589"/>
            <a:ext cx="1042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888950" y="3516064"/>
            <a:ext cx="7559725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A&amp;D's highly specialized, cleared, mission-critical workforce has </a:t>
            </a:r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protection</a:t>
            </a:r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AI cannot replace security clearances, systems knowledge, or human judgment in contested environments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695325" y="3967311"/>
            <a:ext cx="1042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888950" y="3957786"/>
            <a:ext cx="7559725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Northrop Grumman (2026): Defense AI operates on sparse data in undefined environments — it </a:t>
            </a:r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human expertise</a:t>
            </a:r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function, unlike commercial AI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628" y="1293614"/>
            <a:ext cx="8238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8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2628" y="2360414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III · Readiness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2628" y="2623245"/>
            <a:ext cx="823874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buNone/>
            </a:pPr>
            <a:r>
              <a:rPr lang="en-US" sz="4200" b="1" dirty="0">
                <a:solidFill>
                  <a:srgbClr val="34D39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Middle Ground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905000" y="3362325"/>
            <a:ext cx="53340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 is not blind adoption — or blind resistance. It is </a:t>
            </a:r>
            <a:pPr algn="ctr" indent="0" marL="0">
              <a:lnSpc>
                <a:spcPts val="1920"/>
              </a:lnSpc>
              <a:buNone/>
            </a:pPr>
            <a:r>
              <a:rPr lang="en-US" sz="1200" i="1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informed adaptation</a:t>
            </a:r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you stay in control.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058168"/>
            <a:ext cx="8077200" cy="894904"/>
          </a:xfrm>
          <a:prstGeom prst="roundRect">
            <a:avLst>
              <a:gd name="adj" fmla="val 122614"/>
            </a:avLst>
          </a:prstGeom>
          <a:solidFill>
            <a:srgbClr val="F87171">
              <a:alpha val="5000"/>
            </a:srgbClr>
          </a:solidFill>
          <a:ln w="9525">
            <a:solidFill>
              <a:srgbClr val="F8717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074962"/>
            <a:ext cx="8077200" cy="894904"/>
          </a:xfrm>
          <a:prstGeom prst="roundRect">
            <a:avLst>
              <a:gd name="adj" fmla="val 122614"/>
            </a:avLst>
          </a:prstGeom>
          <a:solidFill>
            <a:srgbClr val="FBBF24">
              <a:alpha val="5000"/>
            </a:srgbClr>
          </a:solidFill>
          <a:ln w="9525">
            <a:solidFill>
              <a:srgbClr val="FBBF2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3091755"/>
            <a:ext cx="8077200" cy="894904"/>
          </a:xfrm>
          <a:prstGeom prst="roundRect">
            <a:avLst>
              <a:gd name="adj" fmla="val 122614"/>
            </a:avLst>
          </a:prstGeom>
          <a:solidFill>
            <a:srgbClr val="4F8EF7">
              <a:alpha val="5000"/>
            </a:srgbClr>
          </a:solidFill>
          <a:ln w="9525">
            <a:solidFill>
              <a:srgbClr val="4F8E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4108549"/>
            <a:ext cx="8077200" cy="894904"/>
          </a:xfrm>
          <a:prstGeom prst="roundRect">
            <a:avLst>
              <a:gd name="adj" fmla="val 122614"/>
            </a:avLst>
          </a:prstGeom>
          <a:solidFill>
            <a:srgbClr val="34D399">
              <a:alpha val="5000"/>
            </a:srgbClr>
          </a:solidFill>
          <a:ln w="9525">
            <a:solidFill>
              <a:srgbClr val="34D39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40196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Framework for Everyone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400" y="372517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8ED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Where Do You Want to Be?</a:t>
            </a:r>
            <a:endParaRPr lang="en-US" sz="2640" dirty="0"/>
          </a:p>
        </p:txBody>
      </p:sp>
      <p:sp>
        <p:nvSpPr>
          <p:cNvPr id="8" name="Text 6"/>
          <p:cNvSpPr/>
          <p:nvPr/>
        </p:nvSpPr>
        <p:spPr>
          <a:xfrm>
            <a:off x="710505" y="1299865"/>
            <a:ext cx="29176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😠</a:t>
            </a:r>
            <a:endParaRPr lang="en-US" sz="2160" dirty="0"/>
          </a:p>
        </p:txBody>
      </p:sp>
      <p:sp>
        <p:nvSpPr>
          <p:cNvPr id="9" name="Text 7"/>
          <p:cNvSpPr/>
          <p:nvPr/>
        </p:nvSpPr>
        <p:spPr>
          <a:xfrm>
            <a:off x="1148953" y="1204764"/>
            <a:ext cx="6507260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0 · Full Resistor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148953" y="1440954"/>
            <a:ext cx="637966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 refuse." — Your teammates using AI will produce 33–40% more. You will be outpaced, not by AI, but by colleagues who adapt.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7681020" y="1345555"/>
            <a:ext cx="7524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endParaRPr lang="en-US" sz="840" dirty="0"/>
          </a:p>
          <a:p>
            <a:pPr algn="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710505" y="2316659"/>
            <a:ext cx="28175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🤔</a:t>
            </a:r>
            <a:endParaRPr lang="en-US" sz="2160" dirty="0"/>
          </a:p>
        </p:txBody>
      </p:sp>
      <p:sp>
        <p:nvSpPr>
          <p:cNvPr id="13" name="Text 11"/>
          <p:cNvSpPr/>
          <p:nvPr/>
        </p:nvSpPr>
        <p:spPr>
          <a:xfrm>
            <a:off x="1139130" y="2221557"/>
            <a:ext cx="6585287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1 · Informed Skeptic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139130" y="2457748"/>
            <a:ext cx="645616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AI for low-stakes, well-defined tasks. Question its outputs. Validate before trusting. Build familiarity at your own pace. This is a completely valid starting point.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7747695" y="2362349"/>
            <a:ext cx="6858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Good</a:t>
            </a:r>
            <a:endParaRPr lang="en-US" sz="840" dirty="0"/>
          </a:p>
          <a:p>
            <a:pPr algn="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starting point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10505" y="3333452"/>
            <a:ext cx="28175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🛠️</a:t>
            </a:r>
            <a:endParaRPr lang="en-US" sz="2160" dirty="0"/>
          </a:p>
        </p:txBody>
      </p:sp>
      <p:sp>
        <p:nvSpPr>
          <p:cNvPr id="17" name="Text 15"/>
          <p:cNvSpPr/>
          <p:nvPr/>
        </p:nvSpPr>
        <p:spPr>
          <a:xfrm>
            <a:off x="1139130" y="3238351"/>
            <a:ext cx="6517279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2 · Practical Adopter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139130" y="3474541"/>
            <a:ext cx="6389489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AI into specific workflows — documentation, research, code review, analysis. Save 2–4+ hours/week. Apply that time to higher-value judgment and creative work only you can do.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7681020" y="3379143"/>
            <a:ext cx="7524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Strong</a:t>
            </a:r>
            <a:endParaRPr lang="en-US" sz="840" dirty="0"/>
          </a:p>
          <a:p>
            <a:pPr algn="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 ground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10505" y="4350246"/>
            <a:ext cx="19658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endParaRPr lang="en-US" sz="2160" dirty="0"/>
          </a:p>
        </p:txBody>
      </p:sp>
      <p:sp>
        <p:nvSpPr>
          <p:cNvPr id="21" name="Text 19"/>
          <p:cNvSpPr/>
          <p:nvPr/>
        </p:nvSpPr>
        <p:spPr>
          <a:xfrm>
            <a:off x="1055638" y="4255145"/>
            <a:ext cx="6899978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3 · AI Multiplier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1055638" y="4491335"/>
            <a:ext cx="6764685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workflows, agents, and automation. You are not replaced — you become the architect of AI systems. This is the highest-leverage position in any A&amp;D organization right now.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7972723" y="4395936"/>
            <a:ext cx="4607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Future</a:t>
            </a:r>
            <a:endParaRPr lang="en-US" sz="840" dirty="0"/>
          </a:p>
          <a:p>
            <a:pPr algn="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826740"/>
            <a:ext cx="3969990" cy="1378000"/>
          </a:xfrm>
          <a:prstGeom prst="rect">
            <a:avLst/>
          </a:prstGeom>
          <a:solidFill>
            <a:srgbClr val="34D399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0461" y="826740"/>
            <a:ext cx="3970139" cy="1378000"/>
          </a:xfrm>
          <a:prstGeom prst="rect">
            <a:avLst/>
          </a:prstGeom>
          <a:solidFill>
            <a:srgbClr val="34D399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341811"/>
            <a:ext cx="3969990" cy="1378000"/>
          </a:xfrm>
          <a:prstGeom prst="rect">
            <a:avLst/>
          </a:prstGeom>
          <a:solidFill>
            <a:srgbClr val="34D399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40461" y="2341811"/>
            <a:ext cx="3970139" cy="1378000"/>
          </a:xfrm>
          <a:prstGeom prst="rect">
            <a:avLst/>
          </a:prstGeom>
          <a:solidFill>
            <a:srgbClr val="34D399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3856881"/>
            <a:ext cx="3969990" cy="1378000"/>
          </a:xfrm>
          <a:prstGeom prst="rect">
            <a:avLst/>
          </a:prstGeom>
          <a:solidFill>
            <a:srgbClr val="34D399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40461" y="3856881"/>
            <a:ext cx="3970139" cy="1378000"/>
          </a:xfrm>
          <a:prstGeom prst="rect">
            <a:avLst/>
          </a:prstGeom>
          <a:solidFill>
            <a:srgbClr val="34D399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-91232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Irreplaceable Edge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3400" y="141089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8ED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AI Still Cannot Do — And Won't Soon</a:t>
            </a:r>
            <a:endParaRPr lang="en-US" sz="2640" dirty="0"/>
          </a:p>
        </p:txBody>
      </p:sp>
      <p:sp>
        <p:nvSpPr>
          <p:cNvPr id="10" name="Text 8"/>
          <p:cNvSpPr/>
          <p:nvPr/>
        </p:nvSpPr>
        <p:spPr>
          <a:xfrm>
            <a:off x="714375" y="963811"/>
            <a:ext cx="370934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🧭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714375" y="1321743"/>
            <a:ext cx="3709348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056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 Context &amp; Judgment</a:t>
            </a:r>
            <a:endParaRPr lang="en-US" sz="1056" dirty="0"/>
          </a:p>
        </p:txBody>
      </p:sp>
      <p:sp>
        <p:nvSpPr>
          <p:cNvPr id="12" name="Text 10"/>
          <p:cNvSpPr/>
          <p:nvPr/>
        </p:nvSpPr>
        <p:spPr>
          <a:xfrm>
            <a:off x="714375" y="1568500"/>
            <a:ext cx="3636615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cannot weigh the ethical tradeoffs of a rules-of-engagement decision, understand political realities, or take moral responsibility. Human commanders must.</a:t>
            </a:r>
            <a:endParaRPr lang="en-US" sz="936" dirty="0"/>
          </a:p>
        </p:txBody>
      </p:sp>
      <p:sp>
        <p:nvSpPr>
          <p:cNvPr id="13" name="Text 11"/>
          <p:cNvSpPr/>
          <p:nvPr/>
        </p:nvSpPr>
        <p:spPr>
          <a:xfrm>
            <a:off x="4821436" y="963811"/>
            <a:ext cx="370949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🔐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4821436" y="1321743"/>
            <a:ext cx="3709499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056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Cleared, Contextual Expertise</a:t>
            </a:r>
            <a:endParaRPr lang="en-US" sz="1056" dirty="0"/>
          </a:p>
        </p:txBody>
      </p:sp>
      <p:sp>
        <p:nvSpPr>
          <p:cNvPr id="15" name="Text 13"/>
          <p:cNvSpPr/>
          <p:nvPr/>
        </p:nvSpPr>
        <p:spPr>
          <a:xfrm>
            <a:off x="4821436" y="1568500"/>
            <a:ext cx="3636764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clearances, institutional memory, and classified domain knowledge cannot be encoded into an LLM. Your expertise is a moat AI cannot cross.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714375" y="2478881"/>
            <a:ext cx="370934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🤝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714375" y="2836813"/>
            <a:ext cx="3709348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056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&amp; Relationships</a:t>
            </a:r>
            <a:endParaRPr lang="en-US" sz="1056" dirty="0"/>
          </a:p>
        </p:txBody>
      </p:sp>
      <p:sp>
        <p:nvSpPr>
          <p:cNvPr id="18" name="Text 16"/>
          <p:cNvSpPr/>
          <p:nvPr/>
        </p:nvSpPr>
        <p:spPr>
          <a:xfrm>
            <a:off x="714375" y="3083570"/>
            <a:ext cx="363661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coalitions, earning stakeholder trust, navigating political dynamics on a program — AI has no social capital. You do.</a:t>
            </a:r>
            <a:endParaRPr lang="en-US" sz="936" dirty="0"/>
          </a:p>
        </p:txBody>
      </p:sp>
      <p:sp>
        <p:nvSpPr>
          <p:cNvPr id="19" name="Text 17"/>
          <p:cNvSpPr/>
          <p:nvPr/>
        </p:nvSpPr>
        <p:spPr>
          <a:xfrm>
            <a:off x="4821436" y="2478881"/>
            <a:ext cx="370949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endParaRPr lang="en-US" sz="1560" dirty="0"/>
          </a:p>
        </p:txBody>
      </p:sp>
      <p:sp>
        <p:nvSpPr>
          <p:cNvPr id="20" name="Text 18"/>
          <p:cNvSpPr/>
          <p:nvPr/>
        </p:nvSpPr>
        <p:spPr>
          <a:xfrm>
            <a:off x="4821436" y="2836813"/>
            <a:ext cx="3709499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056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Novel Problem Solving</a:t>
            </a:r>
            <a:endParaRPr lang="en-US" sz="1056" dirty="0"/>
          </a:p>
        </p:txBody>
      </p:sp>
      <p:sp>
        <p:nvSpPr>
          <p:cNvPr id="21" name="Text 19"/>
          <p:cNvSpPr/>
          <p:nvPr/>
        </p:nvSpPr>
        <p:spPr>
          <a:xfrm>
            <a:off x="4821436" y="3083570"/>
            <a:ext cx="3636764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fails at novel, out-of-distribution problems — the exact kind that defines defense engineering. When there's no training data, human creativity is the only resource.</a:t>
            </a:r>
            <a:endParaRPr lang="en-US" sz="936" dirty="0"/>
          </a:p>
        </p:txBody>
      </p:sp>
      <p:sp>
        <p:nvSpPr>
          <p:cNvPr id="22" name="Text 20"/>
          <p:cNvSpPr/>
          <p:nvPr/>
        </p:nvSpPr>
        <p:spPr>
          <a:xfrm>
            <a:off x="714375" y="3993952"/>
            <a:ext cx="370934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714375" y="4351883"/>
            <a:ext cx="3709348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056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Contested Environments</a:t>
            </a:r>
            <a:endParaRPr lang="en-US" sz="1056" dirty="0"/>
          </a:p>
        </p:txBody>
      </p:sp>
      <p:sp>
        <p:nvSpPr>
          <p:cNvPr id="24" name="Text 22"/>
          <p:cNvSpPr/>
          <p:nvPr/>
        </p:nvSpPr>
        <p:spPr>
          <a:xfrm>
            <a:off x="714375" y="4598640"/>
            <a:ext cx="3636615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Defense AI works on sparse, ambiguous data in undefined adversarial settings — it requires human engineers to design, validate, and supervise it continuously.</a:t>
            </a:r>
            <a:endParaRPr lang="en-US" sz="936" dirty="0"/>
          </a:p>
        </p:txBody>
      </p:sp>
      <p:sp>
        <p:nvSpPr>
          <p:cNvPr id="25" name="Text 23"/>
          <p:cNvSpPr/>
          <p:nvPr/>
        </p:nvSpPr>
        <p:spPr>
          <a:xfrm>
            <a:off x="4821436" y="3993952"/>
            <a:ext cx="370949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</a:t>
            </a:r>
            <a:endParaRPr lang="en-US" sz="1560" dirty="0"/>
          </a:p>
        </p:txBody>
      </p:sp>
      <p:sp>
        <p:nvSpPr>
          <p:cNvPr id="26" name="Text 24"/>
          <p:cNvSpPr/>
          <p:nvPr/>
        </p:nvSpPr>
        <p:spPr>
          <a:xfrm>
            <a:off x="4821436" y="4351883"/>
            <a:ext cx="3709499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056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&amp; Vision</a:t>
            </a:r>
            <a:endParaRPr lang="en-US" sz="1056" dirty="0"/>
          </a:p>
        </p:txBody>
      </p:sp>
      <p:sp>
        <p:nvSpPr>
          <p:cNvPr id="27" name="Text 25"/>
          <p:cNvSpPr/>
          <p:nvPr/>
        </p:nvSpPr>
        <p:spPr>
          <a:xfrm>
            <a:off x="4821436" y="4598640"/>
            <a:ext cx="3636764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Hope, strategy, and inspiring people toward a mission are not computable. MIT's EPOCH research confirms these capabilities are </a:t>
            </a:r>
            <a:pPr indent="0" marL="0">
              <a:lnSpc>
                <a:spcPts val="1310"/>
              </a:lnSpc>
              <a:buNone/>
            </a:pPr>
            <a:r>
              <a:rPr lang="en-US" sz="936" i="1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rising</a:t>
            </a:r>
            <a:pPr indent="0" marL="0">
              <a:lnSpc>
                <a:spcPts val="1310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value, not falling.</a:t>
            </a:r>
            <a:endParaRPr lang="en-US" sz="936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017984"/>
            <a:ext cx="3969990" cy="1193602"/>
          </a:xfrm>
          <a:prstGeom prst="roundRect">
            <a:avLst>
              <a:gd name="adj" fmla="val 10725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1179909"/>
            <a:ext cx="266700" cy="266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40461" y="1017984"/>
            <a:ext cx="3970139" cy="1193602"/>
          </a:xfrm>
          <a:prstGeom prst="roundRect">
            <a:avLst>
              <a:gd name="adj" fmla="val 10725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386" y="1179909"/>
            <a:ext cx="266700" cy="266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400" y="2348657"/>
            <a:ext cx="3969990" cy="1193602"/>
          </a:xfrm>
          <a:prstGeom prst="roundRect">
            <a:avLst>
              <a:gd name="adj" fmla="val 10725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510582"/>
            <a:ext cx="266700" cy="266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40461" y="2348657"/>
            <a:ext cx="3970139" cy="1193602"/>
          </a:xfrm>
          <a:prstGeom prst="roundRect">
            <a:avLst>
              <a:gd name="adj" fmla="val 10725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386" y="2510582"/>
            <a:ext cx="266700" cy="2667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33400" y="3679329"/>
            <a:ext cx="3969990" cy="1364159"/>
          </a:xfrm>
          <a:prstGeom prst="roundRect">
            <a:avLst>
              <a:gd name="adj" fmla="val 9384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3841254"/>
            <a:ext cx="266700" cy="2667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640461" y="3679329"/>
            <a:ext cx="3970139" cy="1364159"/>
          </a:xfrm>
          <a:prstGeom prst="roundRect">
            <a:avLst>
              <a:gd name="adj" fmla="val 9384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2386" y="3841254"/>
            <a:ext cx="266700" cy="2667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33400" y="100013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Practical Playbook</a:t>
            </a:r>
            <a:endParaRPr lang="en-US" sz="900" dirty="0"/>
          </a:p>
        </p:txBody>
      </p:sp>
      <p:sp>
        <p:nvSpPr>
          <p:cNvPr id="15" name="Text 7"/>
          <p:cNvSpPr/>
          <p:nvPr/>
        </p:nvSpPr>
        <p:spPr>
          <a:xfrm>
            <a:off x="533400" y="332333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8ED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How to Start — On Your Own Terms</a:t>
            </a:r>
            <a:endParaRPr lang="en-US" sz="2640" dirty="0"/>
          </a:p>
        </p:txBody>
      </p:sp>
      <p:sp>
        <p:nvSpPr>
          <p:cNvPr id="16" name="Text 8"/>
          <p:cNvSpPr/>
          <p:nvPr/>
        </p:nvSpPr>
        <p:spPr>
          <a:xfrm>
            <a:off x="1053405" y="1210270"/>
            <a:ext cx="2253996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your most tedious task</a:t>
            </a:r>
            <a:endParaRPr lang="en-US" sz="1080" dirty="0"/>
          </a:p>
        </p:txBody>
      </p:sp>
      <p:sp>
        <p:nvSpPr>
          <p:cNvPr id="17" name="Text 9"/>
          <p:cNvSpPr/>
          <p:nvPr/>
        </p:nvSpPr>
        <p:spPr>
          <a:xfrm>
            <a:off x="695325" y="1537990"/>
            <a:ext cx="3646140" cy="51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 you spend 2+ hours on that a well-prompted AI could draft in 2 minutes? Reports, summaries, documentation, email drafts. Low stakes, high reward.</a:t>
            </a:r>
            <a:endParaRPr lang="en-US" sz="960" dirty="0"/>
          </a:p>
        </p:txBody>
      </p:sp>
      <p:sp>
        <p:nvSpPr>
          <p:cNvPr id="18" name="Text 10"/>
          <p:cNvSpPr/>
          <p:nvPr/>
        </p:nvSpPr>
        <p:spPr>
          <a:xfrm>
            <a:off x="5160466" y="1210270"/>
            <a:ext cx="2390013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verify — never blindly trust</a:t>
            </a:r>
            <a:endParaRPr lang="en-US" sz="1080" dirty="0"/>
          </a:p>
        </p:txBody>
      </p:sp>
      <p:sp>
        <p:nvSpPr>
          <p:cNvPr id="19" name="Text 11"/>
          <p:cNvSpPr/>
          <p:nvPr/>
        </p:nvSpPr>
        <p:spPr>
          <a:xfrm>
            <a:off x="4802386" y="1537990"/>
            <a:ext cx="3646289" cy="51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 AI like a very fast, very confident junior analyst. Its outputs need your expert review. This is not a limitation — it's where your value is amplified, not erased.</a:t>
            </a:r>
            <a:endParaRPr lang="en-US" sz="960" dirty="0"/>
          </a:p>
        </p:txBody>
      </p:sp>
      <p:sp>
        <p:nvSpPr>
          <p:cNvPr id="20" name="Text 12"/>
          <p:cNvSpPr/>
          <p:nvPr/>
        </p:nvSpPr>
        <p:spPr>
          <a:xfrm>
            <a:off x="1053405" y="2540943"/>
            <a:ext cx="1923669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Time-box your experiments</a:t>
            </a:r>
            <a:endParaRPr lang="en-US" sz="1080" dirty="0"/>
          </a:p>
        </p:txBody>
      </p:sp>
      <p:sp>
        <p:nvSpPr>
          <p:cNvPr id="21" name="Text 13"/>
          <p:cNvSpPr/>
          <p:nvPr/>
        </p:nvSpPr>
        <p:spPr>
          <a:xfrm>
            <a:off x="695325" y="2868662"/>
            <a:ext cx="3646140" cy="51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yourself 30 minutes per week to try one new AI workflow. McKinsey research: select processes where value is clear, feasibility is high, and investment is manageable.</a:t>
            </a:r>
            <a:endParaRPr lang="en-US" sz="960" dirty="0"/>
          </a:p>
        </p:txBody>
      </p:sp>
      <p:sp>
        <p:nvSpPr>
          <p:cNvPr id="22" name="Text 14"/>
          <p:cNvSpPr/>
          <p:nvPr/>
        </p:nvSpPr>
        <p:spPr>
          <a:xfrm>
            <a:off x="5160466" y="2540943"/>
            <a:ext cx="1505902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 in EPOCH skills</a:t>
            </a:r>
            <a:endParaRPr lang="en-US" sz="1080" dirty="0"/>
          </a:p>
        </p:txBody>
      </p:sp>
      <p:sp>
        <p:nvSpPr>
          <p:cNvPr id="23" name="Text 15"/>
          <p:cNvSpPr/>
          <p:nvPr/>
        </p:nvSpPr>
        <p:spPr>
          <a:xfrm>
            <a:off x="4802386" y="2868662"/>
            <a:ext cx="3646289" cy="51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Leadership, judgment, relationships, creativity — these are now the </a:t>
            </a:r>
            <a:pPr indent="0" marL="0">
              <a:lnSpc>
                <a:spcPts val="1344"/>
              </a:lnSpc>
              <a:buNone/>
            </a:pPr>
            <a:r>
              <a:rPr lang="en-US" sz="960" i="1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hardest</a:t>
            </a:r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most valuable skills in an AI-augmented workforce. Double down on what makes you human.</a:t>
            </a:r>
            <a:endParaRPr lang="en-US" sz="960" dirty="0"/>
          </a:p>
        </p:txBody>
      </p:sp>
      <p:sp>
        <p:nvSpPr>
          <p:cNvPr id="24" name="Text 16"/>
          <p:cNvSpPr/>
          <p:nvPr/>
        </p:nvSpPr>
        <p:spPr>
          <a:xfrm>
            <a:off x="1053405" y="3871615"/>
            <a:ext cx="2098548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guardrails you trust</a:t>
            </a:r>
            <a:endParaRPr lang="en-US" sz="1080" dirty="0"/>
          </a:p>
        </p:txBody>
      </p:sp>
      <p:sp>
        <p:nvSpPr>
          <p:cNvPr id="25" name="Text 17"/>
          <p:cNvSpPr/>
          <p:nvPr/>
        </p:nvSpPr>
        <p:spPr>
          <a:xfrm>
            <a:off x="695325" y="4199334"/>
            <a:ext cx="3646140" cy="51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should AI never be used for in your role? Define your own red lines. Governance is not the enemy of AI — it's what makes AI trustworthy and deployable in A&amp;D.</a:t>
            </a:r>
            <a:endParaRPr lang="en-US" sz="960" dirty="0"/>
          </a:p>
        </p:txBody>
      </p:sp>
      <p:sp>
        <p:nvSpPr>
          <p:cNvPr id="26" name="Text 18"/>
          <p:cNvSpPr/>
          <p:nvPr/>
        </p:nvSpPr>
        <p:spPr>
          <a:xfrm>
            <a:off x="5160466" y="3871615"/>
            <a:ext cx="2700909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what works — build team literacy</a:t>
            </a:r>
            <a:endParaRPr lang="en-US" sz="1080" dirty="0"/>
          </a:p>
        </p:txBody>
      </p:sp>
      <p:sp>
        <p:nvSpPr>
          <p:cNvPr id="27" name="Text 19"/>
          <p:cNvSpPr/>
          <p:nvPr/>
        </p:nvSpPr>
        <p:spPr>
          <a:xfrm>
            <a:off x="4802386" y="4199334"/>
            <a:ext cx="3646289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a time-saved win in your team channel. One screenshot drives more adoption than any all-hands presentation. IBM: only 6% have begun upskilling meaningfully — early movers own the advantage.</a:t>
            </a:r>
            <a:endParaRPr lang="en-US" sz="9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986832"/>
            <a:ext cx="2311301" cy="1445419"/>
          </a:xfrm>
          <a:prstGeom prst="roundRect">
            <a:avLst>
              <a:gd name="adj" fmla="val 88567"/>
            </a:avLst>
          </a:prstGeom>
          <a:solidFill>
            <a:srgbClr val="F87171">
              <a:alpha val="7000"/>
            </a:srgbClr>
          </a:solidFill>
          <a:ln w="9525">
            <a:solidFill>
              <a:srgbClr val="F8717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16201" y="2986832"/>
            <a:ext cx="2311450" cy="1445419"/>
          </a:xfrm>
          <a:prstGeom prst="roundRect">
            <a:avLst>
              <a:gd name="adj" fmla="val 88567"/>
            </a:avLst>
          </a:prstGeom>
          <a:solidFill>
            <a:srgbClr val="4F8EF7">
              <a:alpha val="7000"/>
            </a:srgbClr>
          </a:solidFill>
          <a:ln w="9525">
            <a:solidFill>
              <a:srgbClr val="4F8E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80050" y="2986832"/>
            <a:ext cx="2311450" cy="1445419"/>
          </a:xfrm>
          <a:prstGeom prst="roundRect">
            <a:avLst>
              <a:gd name="adj" fmla="val 88567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2628" y="315367"/>
            <a:ext cx="82387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0"/>
              </a:lnSpc>
              <a:buNone/>
            </a:pPr>
            <a:r>
              <a:rPr lang="en-US" sz="54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2628" y="1496467"/>
            <a:ext cx="8238744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16"/>
              </a:lnSpc>
              <a:buNone/>
            </a:pPr>
            <a:r>
              <a:rPr lang="en-US" sz="4560" b="1" dirty="0">
                <a:solidFill>
                  <a:srgbClr val="4F8EF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Question Is Not If.</a:t>
            </a:r>
            <a:endParaRPr lang="en-US" sz="4560" dirty="0"/>
          </a:p>
        </p:txBody>
      </p:sp>
      <p:sp>
        <p:nvSpPr>
          <p:cNvPr id="7" name="Text 5"/>
          <p:cNvSpPr/>
          <p:nvPr/>
        </p:nvSpPr>
        <p:spPr>
          <a:xfrm>
            <a:off x="452628" y="2255341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2640" dirty="0">
                <a:solidFill>
                  <a:srgbClr val="94A8C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It Is How — And On Whose Terms.</a:t>
            </a:r>
            <a:endParaRPr lang="en-US" sz="2640" dirty="0"/>
          </a:p>
        </p:txBody>
      </p:sp>
      <p:sp>
        <p:nvSpPr>
          <p:cNvPr id="8" name="Text 6"/>
          <p:cNvSpPr/>
          <p:nvPr/>
        </p:nvSpPr>
        <p:spPr>
          <a:xfrm>
            <a:off x="1094550" y="3148757"/>
            <a:ext cx="2027200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😰</a:t>
            </a:r>
            <a:endParaRPr lang="en-US" sz="1680" dirty="0"/>
          </a:p>
        </p:txBody>
      </p:sp>
      <p:sp>
        <p:nvSpPr>
          <p:cNvPr id="9" name="Text 7"/>
          <p:cNvSpPr/>
          <p:nvPr/>
        </p:nvSpPr>
        <p:spPr>
          <a:xfrm>
            <a:off x="1094550" y="3529757"/>
            <a:ext cx="2027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1114425" y="3735437"/>
            <a:ext cx="1987451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fears are real and valid. You don't have to pretend they aren't.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3558250" y="3148757"/>
            <a:ext cx="2027352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3558250" y="3529757"/>
            <a:ext cx="20273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Informed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3578126" y="3735437"/>
            <a:ext cx="1987600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evidence shows augmentation, not replacement — especially in A&amp;D.</a:t>
            </a:r>
            <a:endParaRPr lang="en-US" sz="936" dirty="0"/>
          </a:p>
        </p:txBody>
      </p:sp>
      <p:sp>
        <p:nvSpPr>
          <p:cNvPr id="14" name="Text 12"/>
          <p:cNvSpPr/>
          <p:nvPr/>
        </p:nvSpPr>
        <p:spPr>
          <a:xfrm>
            <a:off x="6022099" y="3148757"/>
            <a:ext cx="2027352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</a:t>
            </a:r>
            <a:endParaRPr lang="en-US" sz="1680" dirty="0"/>
          </a:p>
        </p:txBody>
      </p:sp>
      <p:sp>
        <p:nvSpPr>
          <p:cNvPr id="15" name="Text 13"/>
          <p:cNvSpPr/>
          <p:nvPr/>
        </p:nvSpPr>
        <p:spPr>
          <a:xfrm>
            <a:off x="6022099" y="3529757"/>
            <a:ext cx="20273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6041975" y="3735437"/>
            <a:ext cx="1987600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94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 at your own pace. Define your guardrails. Lead the transition.</a:t>
            </a:r>
            <a:endParaRPr lang="en-US" sz="936" dirty="0"/>
          </a:p>
        </p:txBody>
      </p:sp>
      <p:sp>
        <p:nvSpPr>
          <p:cNvPr id="17" name="Text 15"/>
          <p:cNvSpPr/>
          <p:nvPr/>
        </p:nvSpPr>
        <p:spPr>
          <a:xfrm>
            <a:off x="452628" y="4645521"/>
            <a:ext cx="82387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3D54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 scales execution. Humans bring judgment, creativity, and meaning." — MIT Sloan, 2025</a:t>
            </a:r>
            <a:endParaRPr lang="en-US" sz="9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-4614"/>
            <a:ext cx="3996630" cy="721965"/>
          </a:xfrm>
          <a:prstGeom prst="roundRect">
            <a:avLst>
              <a:gd name="adj" fmla="val 12665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13821" y="-4614"/>
            <a:ext cx="3996779" cy="721965"/>
          </a:xfrm>
          <a:prstGeom prst="roundRect">
            <a:avLst>
              <a:gd name="adj" fmla="val 12665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801142"/>
            <a:ext cx="3996630" cy="721965"/>
          </a:xfrm>
          <a:prstGeom prst="roundRect">
            <a:avLst>
              <a:gd name="adj" fmla="val 12665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13821" y="801142"/>
            <a:ext cx="3996779" cy="721965"/>
          </a:xfrm>
          <a:prstGeom prst="roundRect">
            <a:avLst>
              <a:gd name="adj" fmla="val 12665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06897"/>
            <a:ext cx="3996630" cy="893415"/>
          </a:xfrm>
          <a:prstGeom prst="roundRect">
            <a:avLst>
              <a:gd name="adj" fmla="val 10234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13821" y="1606897"/>
            <a:ext cx="3996779" cy="893415"/>
          </a:xfrm>
          <a:prstGeom prst="roundRect">
            <a:avLst>
              <a:gd name="adj" fmla="val 10234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584103"/>
            <a:ext cx="3996630" cy="721965"/>
          </a:xfrm>
          <a:prstGeom prst="roundRect">
            <a:avLst>
              <a:gd name="adj" fmla="val 12665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13821" y="2584103"/>
            <a:ext cx="3996779" cy="721965"/>
          </a:xfrm>
          <a:prstGeom prst="roundRect">
            <a:avLst>
              <a:gd name="adj" fmla="val 12665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400" y="3389858"/>
            <a:ext cx="3996630" cy="893415"/>
          </a:xfrm>
          <a:prstGeom prst="roundRect">
            <a:avLst>
              <a:gd name="adj" fmla="val 10234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13821" y="3389858"/>
            <a:ext cx="3996779" cy="893415"/>
          </a:xfrm>
          <a:prstGeom prst="roundRect">
            <a:avLst>
              <a:gd name="adj" fmla="val 10234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400" y="4367064"/>
            <a:ext cx="3996630" cy="893415"/>
          </a:xfrm>
          <a:prstGeom prst="roundRect">
            <a:avLst>
              <a:gd name="adj" fmla="val 10234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13821" y="4367064"/>
            <a:ext cx="3996779" cy="893415"/>
          </a:xfrm>
          <a:prstGeom prst="roundRect">
            <a:avLst>
              <a:gd name="adj" fmla="val 10234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3400" y="5344269"/>
            <a:ext cx="3996630" cy="721965"/>
          </a:xfrm>
          <a:prstGeom prst="roundRect">
            <a:avLst>
              <a:gd name="adj" fmla="val 12665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13821" y="5344269"/>
            <a:ext cx="3996779" cy="721965"/>
          </a:xfrm>
          <a:prstGeom prst="roundRect">
            <a:avLst>
              <a:gd name="adj" fmla="val 12665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00" y="-922586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&amp; Further Reading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3400" y="-690265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8ED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References</a:t>
            </a:r>
            <a:endParaRPr lang="en-US" sz="2640" dirty="0"/>
          </a:p>
        </p:txBody>
      </p:sp>
      <p:sp>
        <p:nvSpPr>
          <p:cNvPr id="18" name="Text 16"/>
          <p:cNvSpPr/>
          <p:nvPr/>
        </p:nvSpPr>
        <p:spPr>
          <a:xfrm>
            <a:off x="672405" y="96292"/>
            <a:ext cx="3792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 &amp; Augmentation</a:t>
            </a:r>
            <a:endParaRPr lang="en-US" sz="816" dirty="0"/>
          </a:p>
        </p:txBody>
      </p:sp>
      <p:sp>
        <p:nvSpPr>
          <p:cNvPr id="19" name="Text 17"/>
          <p:cNvSpPr/>
          <p:nvPr/>
        </p:nvSpPr>
        <p:spPr>
          <a:xfrm>
            <a:off x="672405" y="274439"/>
            <a:ext cx="3792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Sloan — Generative AI &amp; Skilled Worker Productivity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2405" y="461070"/>
            <a:ext cx="3792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mitsloan.mit.edu · 2023 &amp; March 2025</a:t>
            </a:r>
            <a:endParaRPr lang="en-US" sz="816" dirty="0"/>
          </a:p>
        </p:txBody>
      </p:sp>
      <p:sp>
        <p:nvSpPr>
          <p:cNvPr id="21" name="Text 19"/>
          <p:cNvSpPr/>
          <p:nvPr/>
        </p:nvSpPr>
        <p:spPr>
          <a:xfrm>
            <a:off x="4752826" y="96292"/>
            <a:ext cx="37931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4F8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Macroeconomic Data</a:t>
            </a:r>
            <a:endParaRPr lang="en-US" sz="816" dirty="0"/>
          </a:p>
        </p:txBody>
      </p:sp>
      <p:sp>
        <p:nvSpPr>
          <p:cNvPr id="22" name="Text 20"/>
          <p:cNvSpPr/>
          <p:nvPr/>
        </p:nvSpPr>
        <p:spPr>
          <a:xfrm>
            <a:off x="4752826" y="274439"/>
            <a:ext cx="37931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St. Louis Federal Reserve — GenAI Work Productivity Impact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2826" y="461070"/>
            <a:ext cx="37931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stlouisfed.org · Feb 2025</a:t>
            </a:r>
            <a:endParaRPr lang="en-US" sz="816" dirty="0"/>
          </a:p>
        </p:txBody>
      </p:sp>
      <p:sp>
        <p:nvSpPr>
          <p:cNvPr id="24" name="Text 22"/>
          <p:cNvSpPr/>
          <p:nvPr/>
        </p:nvSpPr>
        <p:spPr>
          <a:xfrm>
            <a:off x="672405" y="902047"/>
            <a:ext cx="3792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Jobs &amp; Future of Work</a:t>
            </a:r>
            <a:endParaRPr lang="en-US" sz="816" dirty="0"/>
          </a:p>
        </p:txBody>
      </p:sp>
      <p:sp>
        <p:nvSpPr>
          <p:cNvPr id="25" name="Text 23"/>
          <p:cNvSpPr/>
          <p:nvPr/>
        </p:nvSpPr>
        <p:spPr>
          <a:xfrm>
            <a:off x="672405" y="1080195"/>
            <a:ext cx="3792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 Economic Forum — Future of Jobs Report 2025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2405" y="1266825"/>
            <a:ext cx="3792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weforum.org · Jan 2025 · 1,000+ employers, 55 economies</a:t>
            </a:r>
            <a:endParaRPr lang="en-US" sz="816" dirty="0"/>
          </a:p>
        </p:txBody>
      </p:sp>
      <p:sp>
        <p:nvSpPr>
          <p:cNvPr id="27" name="Text 25"/>
          <p:cNvSpPr/>
          <p:nvPr/>
        </p:nvSpPr>
        <p:spPr>
          <a:xfrm>
            <a:off x="4752826" y="902047"/>
            <a:ext cx="37931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Skills Research</a:t>
            </a:r>
            <a:endParaRPr lang="en-US" sz="816" dirty="0"/>
          </a:p>
        </p:txBody>
      </p:sp>
      <p:sp>
        <p:nvSpPr>
          <p:cNvPr id="28" name="Text 26"/>
          <p:cNvSpPr/>
          <p:nvPr/>
        </p:nvSpPr>
        <p:spPr>
          <a:xfrm>
            <a:off x="4752826" y="1080195"/>
            <a:ext cx="37931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Sloan — "The EPOCH of AI": 5 Irreplaceable Human Capabilities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2826" y="1266825"/>
            <a:ext cx="37931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mitsloan.mit.edu · March 2025 · Prof. Rigobon et al.</a:t>
            </a:r>
            <a:endParaRPr lang="en-US" sz="816" dirty="0"/>
          </a:p>
        </p:txBody>
      </p:sp>
      <p:sp>
        <p:nvSpPr>
          <p:cNvPr id="30" name="Text 28"/>
          <p:cNvSpPr/>
          <p:nvPr/>
        </p:nvSpPr>
        <p:spPr>
          <a:xfrm>
            <a:off x="672405" y="1707803"/>
            <a:ext cx="3792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A&amp;D Industry</a:t>
            </a:r>
            <a:endParaRPr lang="en-US" sz="816" dirty="0"/>
          </a:p>
        </p:txBody>
      </p:sp>
      <p:sp>
        <p:nvSpPr>
          <p:cNvPr id="31" name="Text 29"/>
          <p:cNvSpPr/>
          <p:nvPr/>
        </p:nvSpPr>
        <p:spPr>
          <a:xfrm>
            <a:off x="672405" y="1885950"/>
            <a:ext cx="3792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Honeywell Aerospace — AI in Aviation: Supporting Pilots Safely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2405" y="2072580"/>
            <a:ext cx="3792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aerospace.honeywell.com · March 2026</a:t>
            </a:r>
            <a:endParaRPr lang="en-US" sz="816" dirty="0"/>
          </a:p>
        </p:txBody>
      </p:sp>
      <p:sp>
        <p:nvSpPr>
          <p:cNvPr id="33" name="Text 31"/>
          <p:cNvSpPr/>
          <p:nvPr/>
        </p:nvSpPr>
        <p:spPr>
          <a:xfrm>
            <a:off x="4752826" y="1707803"/>
            <a:ext cx="37931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A&amp;D Industry</a:t>
            </a:r>
            <a:endParaRPr lang="en-US" sz="816" dirty="0"/>
          </a:p>
        </p:txBody>
      </p:sp>
      <p:sp>
        <p:nvSpPr>
          <p:cNvPr id="34" name="Text 32"/>
          <p:cNvSpPr/>
          <p:nvPr/>
        </p:nvSpPr>
        <p:spPr>
          <a:xfrm>
            <a:off x="4752826" y="1885950"/>
            <a:ext cx="37187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Northrop Grumman — Defense AI: Worlds Apart From Commercial 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2826" y="2244030"/>
            <a:ext cx="37931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northropgrumman.com · April 2026</a:t>
            </a:r>
            <a:endParaRPr lang="en-US" sz="816" dirty="0"/>
          </a:p>
        </p:txBody>
      </p:sp>
      <p:sp>
        <p:nvSpPr>
          <p:cNvPr id="36" name="Text 34"/>
          <p:cNvSpPr/>
          <p:nvPr/>
        </p:nvSpPr>
        <p:spPr>
          <a:xfrm>
            <a:off x="672405" y="2685008"/>
            <a:ext cx="3792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A&amp;D Industry</a:t>
            </a:r>
            <a:endParaRPr lang="en-US" sz="816" dirty="0"/>
          </a:p>
        </p:txBody>
      </p:sp>
      <p:sp>
        <p:nvSpPr>
          <p:cNvPr id="37" name="Text 35"/>
          <p:cNvSpPr/>
          <p:nvPr/>
        </p:nvSpPr>
        <p:spPr>
          <a:xfrm>
            <a:off x="672405" y="2863155"/>
            <a:ext cx="3792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Lockheed Martin — Training Human and AI Teams (CCA / Wingman)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2405" y="3049786"/>
            <a:ext cx="3792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lockheedmartin.com · July 2024</a:t>
            </a:r>
            <a:endParaRPr lang="en-US" sz="816" dirty="0"/>
          </a:p>
        </p:txBody>
      </p:sp>
      <p:sp>
        <p:nvSpPr>
          <p:cNvPr id="39" name="Text 37"/>
          <p:cNvSpPr/>
          <p:nvPr/>
        </p:nvSpPr>
        <p:spPr>
          <a:xfrm>
            <a:off x="4752826" y="2685008"/>
            <a:ext cx="37931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A&amp;D Industry</a:t>
            </a:r>
            <a:endParaRPr lang="en-US" sz="816" dirty="0"/>
          </a:p>
        </p:txBody>
      </p:sp>
      <p:sp>
        <p:nvSpPr>
          <p:cNvPr id="40" name="Text 38"/>
          <p:cNvSpPr/>
          <p:nvPr/>
        </p:nvSpPr>
        <p:spPr>
          <a:xfrm>
            <a:off x="4752826" y="2863155"/>
            <a:ext cx="37931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HCLTech — AI in Aerospace &amp; Defense: Unlocking New Possibilities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2826" y="3049786"/>
            <a:ext cx="37931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hcltech.com · Aug 2024</a:t>
            </a:r>
            <a:endParaRPr lang="en-US" sz="816" dirty="0"/>
          </a:p>
        </p:txBody>
      </p:sp>
      <p:sp>
        <p:nvSpPr>
          <p:cNvPr id="42" name="Text 40"/>
          <p:cNvSpPr/>
          <p:nvPr/>
        </p:nvSpPr>
        <p:spPr>
          <a:xfrm>
            <a:off x="672405" y="3490764"/>
            <a:ext cx="3792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Management</a:t>
            </a:r>
            <a:endParaRPr lang="en-US" sz="816" dirty="0"/>
          </a:p>
        </p:txBody>
      </p:sp>
      <p:sp>
        <p:nvSpPr>
          <p:cNvPr id="43" name="Text 41"/>
          <p:cNvSpPr/>
          <p:nvPr/>
        </p:nvSpPr>
        <p:spPr>
          <a:xfrm>
            <a:off x="672405" y="3668911"/>
            <a:ext cx="37186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McKinsey — Reconfiguring Work: Change Management in the Age of Gen AI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2405" y="4026991"/>
            <a:ext cx="3792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mckinsey.com · Aug 2025</a:t>
            </a:r>
            <a:endParaRPr lang="en-US" sz="816" dirty="0"/>
          </a:p>
        </p:txBody>
      </p:sp>
      <p:sp>
        <p:nvSpPr>
          <p:cNvPr id="45" name="Text 43"/>
          <p:cNvSpPr/>
          <p:nvPr/>
        </p:nvSpPr>
        <p:spPr>
          <a:xfrm>
            <a:off x="4752826" y="3490764"/>
            <a:ext cx="37931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Management</a:t>
            </a:r>
            <a:endParaRPr lang="en-US" sz="816" dirty="0"/>
          </a:p>
        </p:txBody>
      </p:sp>
      <p:sp>
        <p:nvSpPr>
          <p:cNvPr id="46" name="Text 44"/>
          <p:cNvSpPr/>
          <p:nvPr/>
        </p:nvSpPr>
        <p:spPr>
          <a:xfrm>
            <a:off x="4752826" y="3668911"/>
            <a:ext cx="37931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McKinsey — Redefine AI Upskilling as a Change Imperative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2826" y="3855541"/>
            <a:ext cx="37931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mckinsey.com · Nov 2025</a:t>
            </a:r>
            <a:endParaRPr lang="en-US" sz="816" dirty="0"/>
          </a:p>
        </p:txBody>
      </p:sp>
      <p:sp>
        <p:nvSpPr>
          <p:cNvPr id="48" name="Text 46"/>
          <p:cNvSpPr/>
          <p:nvPr/>
        </p:nvSpPr>
        <p:spPr>
          <a:xfrm>
            <a:off x="672405" y="4467969"/>
            <a:ext cx="3792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Sentiment</a:t>
            </a:r>
            <a:endParaRPr lang="en-US" sz="816" dirty="0"/>
          </a:p>
        </p:txBody>
      </p:sp>
      <p:sp>
        <p:nvSpPr>
          <p:cNvPr id="49" name="Text 47"/>
          <p:cNvSpPr/>
          <p:nvPr/>
        </p:nvSpPr>
        <p:spPr>
          <a:xfrm>
            <a:off x="672405" y="4646116"/>
            <a:ext cx="3792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Fortune — 'I Don't Need Help': Meet AI Resisters (April 2026)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72405" y="4832747"/>
            <a:ext cx="3792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fortune.com · April 2026</a:t>
            </a:r>
            <a:endParaRPr lang="en-US" sz="816" dirty="0"/>
          </a:p>
        </p:txBody>
      </p:sp>
      <p:sp>
        <p:nvSpPr>
          <p:cNvPr id="51" name="Text 49"/>
          <p:cNvSpPr/>
          <p:nvPr/>
        </p:nvSpPr>
        <p:spPr>
          <a:xfrm>
            <a:off x="4752826" y="4467969"/>
            <a:ext cx="37931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Context</a:t>
            </a:r>
            <a:endParaRPr lang="en-US" sz="816" dirty="0"/>
          </a:p>
        </p:txBody>
      </p:sp>
      <p:sp>
        <p:nvSpPr>
          <p:cNvPr id="52" name="Text 50"/>
          <p:cNvSpPr/>
          <p:nvPr/>
        </p:nvSpPr>
        <p:spPr>
          <a:xfrm>
            <a:off x="4752826" y="4646116"/>
            <a:ext cx="37187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Brookings Institution — With New Technology, We've Been Here Before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52826" y="5004197"/>
            <a:ext cx="37931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brookings.edu · March 2022</a:t>
            </a:r>
            <a:endParaRPr lang="en-US" sz="816" dirty="0"/>
          </a:p>
        </p:txBody>
      </p:sp>
      <p:sp>
        <p:nvSpPr>
          <p:cNvPr id="54" name="Text 52"/>
          <p:cNvSpPr/>
          <p:nvPr/>
        </p:nvSpPr>
        <p:spPr>
          <a:xfrm>
            <a:off x="672405" y="5445175"/>
            <a:ext cx="3792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Context</a:t>
            </a:r>
            <a:endParaRPr lang="en-US" sz="816" dirty="0"/>
          </a:p>
        </p:txBody>
      </p:sp>
      <p:sp>
        <p:nvSpPr>
          <p:cNvPr id="55" name="Text 53"/>
          <p:cNvSpPr/>
          <p:nvPr/>
        </p:nvSpPr>
        <p:spPr>
          <a:xfrm>
            <a:off x="672405" y="5623322"/>
            <a:ext cx="3792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Forbes — The Truth About AI and Jobs: History Says We'll Be Fine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72405" y="5809952"/>
            <a:ext cx="37929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forbes.com · April 2026</a:t>
            </a:r>
            <a:endParaRPr lang="en-US" sz="816" dirty="0"/>
          </a:p>
        </p:txBody>
      </p:sp>
      <p:sp>
        <p:nvSpPr>
          <p:cNvPr id="57" name="Text 55"/>
          <p:cNvSpPr/>
          <p:nvPr/>
        </p:nvSpPr>
        <p:spPr>
          <a:xfrm>
            <a:off x="4752826" y="5445175"/>
            <a:ext cx="37931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Capabilities</a:t>
            </a:r>
            <a:endParaRPr lang="en-US" sz="816" dirty="0"/>
          </a:p>
        </p:txBody>
      </p:sp>
      <p:sp>
        <p:nvSpPr>
          <p:cNvPr id="58" name="Text 56"/>
          <p:cNvSpPr/>
          <p:nvPr/>
        </p:nvSpPr>
        <p:spPr>
          <a:xfrm>
            <a:off x="4752826" y="5623322"/>
            <a:ext cx="37931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Future Tech Lab — New Research Overturns AI Capability View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52826" y="5809952"/>
            <a:ext cx="37931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futuretech.mit.edu · April 2026</a:t>
            </a:r>
            <a:endParaRPr lang="en-US" sz="81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2026-04-26T22:16:28Z</dcterms:created>
  <dcterms:modified xsi:type="dcterms:W3CDTF">2026-04-26T22:16:28Z</dcterms:modified>
</cp:coreProperties>
</file>